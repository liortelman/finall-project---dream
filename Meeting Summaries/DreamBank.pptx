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63" r:id="rId4"/>
    <p:sldId id="264" r:id="rId5"/>
    <p:sldId id="265" r:id="rId6"/>
    <p:sldId id="262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157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40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6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3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6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2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7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1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6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1997335"/>
            <a:ext cx="7543800" cy="1450757"/>
          </a:xfrm>
        </p:spPr>
        <p:txBody>
          <a:bodyPr>
            <a:normAutofit/>
          </a:bodyPr>
          <a:lstStyle/>
          <a:p>
            <a:pPr rtl="1"/>
            <a:r>
              <a:rPr sz="8000" b="1" dirty="0" err="1">
                <a:solidFill>
                  <a:srgbClr val="1E1E1E"/>
                </a:solidFill>
                <a:latin typeface="Bodoni MT" panose="02070603080606020203" pitchFamily="18" charset="0"/>
              </a:rPr>
              <a:t>DreamBank</a:t>
            </a:r>
            <a:endParaRPr sz="8000" b="1" dirty="0">
              <a:solidFill>
                <a:srgbClr val="1E1E1E"/>
              </a:solidFill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6BDF-5D93-2B74-598F-0C4E61D8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1CC1-1B4E-8147-1FAF-96260BBC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b="1" dirty="0"/>
              <a:t>מה זה </a:t>
            </a:r>
            <a:r>
              <a:rPr lang="en-US" sz="5400" b="1" dirty="0" err="1"/>
              <a:t>DreamBank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C207-3C6F-E2FA-1A9C-E71C03519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DreamBank</a:t>
            </a:r>
            <a:r>
              <a:rPr lang="en-US" dirty="0"/>
              <a:t> </a:t>
            </a:r>
            <a:r>
              <a:rPr lang="he-IL" dirty="0"/>
              <a:t> הוא מאגר החלומות המחקרי הגדול ביותר בעולם.</a:t>
            </a:r>
            <a:br>
              <a:rPr lang="he-IL" dirty="0"/>
            </a:br>
            <a:r>
              <a:rPr lang="he-IL" dirty="0"/>
              <a:t>הוא מכיל אלפי תיאורי חלומות שנאספו במשך עשרות שנים לצורך מחקר בפסיכולוגיה, קוגניציה, ניתוח תוכן ולימודי תודעה.</a:t>
            </a:r>
          </a:p>
          <a:p>
            <a:r>
              <a:rPr lang="he-IL" dirty="0"/>
              <a:t>המאגר נבנה על בסיס עבודתם של שני חוקרים מרכזיים:</a:t>
            </a:r>
          </a:p>
          <a:p>
            <a:r>
              <a:rPr lang="en-US" b="1" dirty="0"/>
              <a:t>Calvin S. Hall</a:t>
            </a:r>
            <a:endParaRPr lang="en-US" dirty="0"/>
          </a:p>
          <a:p>
            <a:r>
              <a:rPr lang="en-US" b="1" dirty="0"/>
              <a:t>Robert Van de Castle</a:t>
            </a:r>
            <a:endParaRPr lang="en-US" dirty="0"/>
          </a:p>
          <a:p>
            <a:r>
              <a:rPr lang="he-IL" dirty="0"/>
              <a:t>שפיתחו שיטת קידוד מחקרית מפורטת מאוד לתוכן של חלומות –</a:t>
            </a:r>
            <a:br>
              <a:rPr lang="he-IL" dirty="0"/>
            </a:br>
            <a:r>
              <a:rPr lang="en-US" b="1" dirty="0"/>
              <a:t>Hall &amp; Van de Castle Coding System"</a:t>
            </a:r>
            <a:r>
              <a:rPr lang="en-US" dirty="0"/>
              <a:t>.</a:t>
            </a:r>
            <a:r>
              <a:rPr lang="he-IL" b="1" dirty="0"/>
              <a:t> 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2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19CA-94EE-3F8D-02E0-695AB550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2FF8-8BCF-AA10-9C0A-2655FCB63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b="1" dirty="0"/>
              <a:t>מה זה </a:t>
            </a:r>
            <a:r>
              <a:rPr lang="en-US" sz="5400" b="1" dirty="0" err="1"/>
              <a:t>DreamBank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B198-BEC1-44CB-0935-A1206821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המאגר הוקם במתכונתו הדיגיטלית על ידי:</a:t>
            </a:r>
          </a:p>
          <a:p>
            <a:r>
              <a:rPr lang="en-US" b="1" dirty="0"/>
              <a:t>G. William Domhoff</a:t>
            </a:r>
          </a:p>
          <a:p>
            <a:r>
              <a:rPr lang="he-IL" dirty="0"/>
              <a:t>(חוקר מוביל בתחום הפסיכולוגיה של חלומות וניתוח תוכן.)</a:t>
            </a:r>
          </a:p>
          <a:p>
            <a:r>
              <a:rPr lang="he-IL" dirty="0"/>
              <a:t>בשיתוף עם </a:t>
            </a:r>
            <a:r>
              <a:rPr lang="en-US" b="1" dirty="0"/>
              <a:t>Adam Schneider</a:t>
            </a:r>
          </a:p>
          <a:p>
            <a:r>
              <a:rPr lang="he-IL" dirty="0"/>
              <a:t>הם בנו את הגרסה המקוונת של </a:t>
            </a:r>
            <a:r>
              <a:rPr lang="en-US" dirty="0" err="1"/>
              <a:t>DreamBank</a:t>
            </a:r>
            <a:r>
              <a:rPr lang="en-US" dirty="0"/>
              <a:t> </a:t>
            </a:r>
            <a:r>
              <a:rPr lang="he-IL" dirty="0"/>
              <a:t> באוניברסיטת קליפורניה, סנטה קרוז </a:t>
            </a:r>
            <a:r>
              <a:rPr lang="en-US" dirty="0"/>
              <a:t>UCSC</a:t>
            </a:r>
          </a:p>
        </p:txBody>
      </p:sp>
    </p:spTree>
    <p:extLst>
      <p:ext uri="{BB962C8B-B14F-4D97-AF65-F5344CB8AC3E}">
        <p14:creationId xmlns:p14="http://schemas.microsoft.com/office/powerpoint/2010/main" val="154147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BC430-FEDF-870E-E538-0BE3AE63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AAFE-4D4E-9F08-7EFF-778F6449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b="1" dirty="0"/>
              <a:t>למה הקימו את </a:t>
            </a:r>
            <a:r>
              <a:rPr lang="en-US" sz="5400" b="1" dirty="0" err="1"/>
              <a:t>DreamBank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3D679-ABAC-42DF-F6F1-CB5D9E31D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המטרה המקורית הייתה:</a:t>
            </a:r>
          </a:p>
          <a:p>
            <a:r>
              <a:rPr lang="he-IL" b="1" dirty="0"/>
              <a:t>✔ ליצור מאגר פתוח למחקר מדעי בניתוח חלומות</a:t>
            </a:r>
          </a:p>
          <a:p>
            <a:r>
              <a:rPr lang="he-IL" dirty="0"/>
              <a:t>כך חוקרים יכולים להשוות חלומות בין קבוצות אוכלוסייה, גילאים, מצבים נפשיים ותרבותיים.</a:t>
            </a:r>
          </a:p>
          <a:p>
            <a:r>
              <a:rPr lang="he-IL" b="1" dirty="0"/>
              <a:t>✔ לבחון תאוריות פסיכולוגיות</a:t>
            </a:r>
          </a:p>
          <a:p>
            <a:r>
              <a:rPr lang="he-IL" dirty="0"/>
              <a:t>למשל:</a:t>
            </a:r>
          </a:p>
          <a:p>
            <a:r>
              <a:rPr lang="he-IL" dirty="0"/>
              <a:t>האם חלומות משקפים את המציאות של האדם?</a:t>
            </a:r>
          </a:p>
          <a:p>
            <a:r>
              <a:rPr lang="he-IL" dirty="0"/>
              <a:t>האם יש הבדלים מגדריים בחלומות?</a:t>
            </a:r>
          </a:p>
          <a:p>
            <a:r>
              <a:rPr lang="he-IL" dirty="0"/>
              <a:t>האם מצבי חרדה נראים בטקסט החלום?</a:t>
            </a:r>
          </a:p>
          <a:p>
            <a:r>
              <a:rPr lang="he-IL" dirty="0"/>
              <a:t>האם טראומה משפיעה על תכני חלומות?</a:t>
            </a:r>
          </a:p>
        </p:txBody>
      </p:sp>
    </p:spTree>
    <p:extLst>
      <p:ext uri="{BB962C8B-B14F-4D97-AF65-F5344CB8AC3E}">
        <p14:creationId xmlns:p14="http://schemas.microsoft.com/office/powerpoint/2010/main" val="379821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110F-C466-4FDD-79B0-47725ECE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BB52-A071-F94F-8964-2F6B4243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b="1" dirty="0"/>
              <a:t>מחקרי </a:t>
            </a:r>
            <a:r>
              <a:rPr lang="en-US" sz="5400" b="1" dirty="0"/>
              <a:t>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66E5-FCAD-26FC-7853-9CECA53F9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2016556"/>
            <a:ext cx="754380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he-IL" dirty="0"/>
              <a:t>זיהוי תמות בחלומות באמצעות </a:t>
            </a:r>
            <a:r>
              <a:rPr lang="en-US" dirty="0"/>
              <a:t>Word2Vec / </a:t>
            </a:r>
            <a:r>
              <a:rPr lang="en-US" dirty="0" err="1"/>
              <a:t>GloVe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Embeddings </a:t>
            </a:r>
            <a:r>
              <a:rPr lang="he-IL" dirty="0"/>
              <a:t> לניבוי קידוד לפי </a:t>
            </a:r>
            <a:r>
              <a:rPr lang="en-US" dirty="0"/>
              <a:t>Hall &amp; Van de Castle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clustering </a:t>
            </a:r>
            <a:r>
              <a:rPr lang="he-IL" dirty="0"/>
              <a:t> של חלומות לפי נושא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Topic modeling (LDA) </a:t>
            </a:r>
            <a:r>
              <a:rPr lang="he-IL" dirty="0"/>
              <a:t> כדי לחשוף מבנים לטנטיים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e-IL" dirty="0"/>
              <a:t>שימוש ב־</a:t>
            </a:r>
            <a:r>
              <a:rPr lang="en-US" dirty="0"/>
              <a:t>Transformers </a:t>
            </a:r>
            <a:r>
              <a:rPr lang="he-IL" dirty="0"/>
              <a:t> להבנת רגשות בחלום</a:t>
            </a:r>
          </a:p>
        </p:txBody>
      </p:sp>
    </p:spTree>
    <p:extLst>
      <p:ext uri="{BB962C8B-B14F-4D97-AF65-F5344CB8AC3E}">
        <p14:creationId xmlns:p14="http://schemas.microsoft.com/office/powerpoint/2010/main" val="265680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C45E-8F81-DD38-DC6B-2A5A42797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B167-180B-2943-F47D-CC8B569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he-IL" sz="5000" b="1" dirty="0">
                <a:solidFill>
                  <a:srgbClr val="1E1E1E"/>
                </a:solidFill>
              </a:rPr>
              <a:t>סטטיסטיקות מרכזיות</a:t>
            </a:r>
            <a:endParaRPr sz="5000" b="1" dirty="0">
              <a:solidFill>
                <a:srgbClr val="1E1E1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EA9E8-6CA9-7A43-DCA5-B3ACB600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dirty="0"/>
          </a:p>
          <a:p>
            <a:pPr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מעל22,000 </a:t>
            </a:r>
            <a:r>
              <a:rPr lang="he-IL" dirty="0"/>
              <a:t> </a:t>
            </a:r>
            <a:r>
              <a:rPr dirty="0" err="1"/>
              <a:t>חלומות</a:t>
            </a:r>
            <a:endParaRPr dirty="0"/>
          </a:p>
          <a:p>
            <a:pPr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lang="he-IL" dirty="0"/>
              <a:t>40</a:t>
            </a:r>
            <a:r>
              <a:rPr dirty="0"/>
              <a:t> </a:t>
            </a:r>
            <a:r>
              <a:rPr dirty="0" err="1"/>
              <a:t>שנה</a:t>
            </a:r>
            <a:r>
              <a:rPr dirty="0"/>
              <a:t> של </a:t>
            </a:r>
            <a:r>
              <a:rPr dirty="0" err="1"/>
              <a:t>איסוף</a:t>
            </a:r>
            <a:r>
              <a:rPr dirty="0"/>
              <a:t> נתונים</a:t>
            </a:r>
          </a:p>
          <a:p>
            <a:pPr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כ־40 </a:t>
            </a:r>
            <a:r>
              <a:rPr lang="he-IL" dirty="0"/>
              <a:t> </a:t>
            </a:r>
            <a:r>
              <a:rPr dirty="0" err="1"/>
              <a:t>אוספים</a:t>
            </a:r>
            <a:r>
              <a:rPr dirty="0"/>
              <a:t> (Collections)</a:t>
            </a:r>
          </a:p>
        </p:txBody>
      </p:sp>
    </p:spTree>
    <p:extLst>
      <p:ext uri="{BB962C8B-B14F-4D97-AF65-F5344CB8AC3E}">
        <p14:creationId xmlns:p14="http://schemas.microsoft.com/office/powerpoint/2010/main" val="343965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000" b="1" dirty="0">
                <a:solidFill>
                  <a:srgbClr val="1E1E1E"/>
                </a:solidFill>
              </a:rPr>
              <a:t>סוגי האוספים</a:t>
            </a:r>
            <a:endParaRPr sz="5000" b="1" dirty="0">
              <a:solidFill>
                <a:srgbClr val="1E1E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buFont typeface="Wingdings" panose="05000000000000000000" pitchFamily="2" charset="2"/>
              <a:buChar char="v"/>
            </a:pPr>
            <a:endParaRPr dirty="0"/>
          </a:p>
          <a:p>
            <a:pPr algn="r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יומיומיים</a:t>
            </a:r>
            <a:endParaRPr dirty="0"/>
          </a:p>
          <a:p>
            <a:pPr algn="r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ילדים</a:t>
            </a:r>
            <a:endParaRPr dirty="0"/>
          </a:p>
          <a:p>
            <a:pPr algn="r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מטופלים</a:t>
            </a:r>
            <a:r>
              <a:rPr dirty="0"/>
              <a:t> </a:t>
            </a:r>
            <a:r>
              <a:rPr dirty="0" err="1"/>
              <a:t>פסיכיאטריים</a:t>
            </a:r>
            <a:endParaRPr dirty="0"/>
          </a:p>
          <a:p>
            <a:pPr algn="r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יומני</a:t>
            </a:r>
            <a:r>
              <a:rPr dirty="0"/>
              <a:t> </a:t>
            </a:r>
            <a:r>
              <a:rPr dirty="0" err="1"/>
              <a:t>חלומות</a:t>
            </a:r>
            <a:endParaRPr dirty="0"/>
          </a:p>
          <a:p>
            <a:pPr algn="r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הקשורים</a:t>
            </a:r>
            <a:r>
              <a:rPr dirty="0"/>
              <a:t> </a:t>
            </a:r>
            <a:r>
              <a:rPr dirty="0" err="1"/>
              <a:t>לטראומה</a:t>
            </a:r>
            <a:r>
              <a:rPr dirty="0"/>
              <a:t> או </a:t>
            </a:r>
            <a:r>
              <a:rPr dirty="0" err="1"/>
              <a:t>דיכאון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000" b="1" dirty="0">
                <a:solidFill>
                  <a:srgbClr val="1E1E1E"/>
                </a:solidFill>
              </a:rPr>
              <a:t>מאפייני הטקסט</a:t>
            </a:r>
            <a:endParaRPr sz="5000" b="1" dirty="0">
              <a:solidFill>
                <a:srgbClr val="1E1E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Wingdings" panose="05000000000000000000" pitchFamily="2" charset="2"/>
              <a:buChar char="v"/>
            </a:pP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אורך</a:t>
            </a:r>
            <a:r>
              <a:rPr dirty="0"/>
              <a:t> </a:t>
            </a:r>
            <a:r>
              <a:rPr dirty="0" err="1"/>
              <a:t>ממוצע</a:t>
            </a:r>
            <a:r>
              <a:rPr lang="he-IL" dirty="0"/>
              <a:t> לחלום :</a:t>
            </a:r>
            <a:r>
              <a:rPr dirty="0"/>
              <a:t> 100–150 </a:t>
            </a:r>
            <a:r>
              <a:rPr dirty="0" err="1"/>
              <a:t>מילים</a:t>
            </a:r>
            <a:r>
              <a:rPr lang="he-IL" dirty="0"/>
              <a:t>.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קצרים</a:t>
            </a:r>
            <a:r>
              <a:rPr lang="he-IL" dirty="0"/>
              <a:t> : 20-40 מילים.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חלומות</a:t>
            </a:r>
            <a:r>
              <a:rPr dirty="0"/>
              <a:t> </a:t>
            </a:r>
            <a:r>
              <a:rPr dirty="0" err="1"/>
              <a:t>ארוכים</a:t>
            </a:r>
            <a:r>
              <a:rPr lang="he-IL" dirty="0"/>
              <a:t> : </a:t>
            </a:r>
            <a:r>
              <a:rPr dirty="0"/>
              <a:t> 300–800</a:t>
            </a:r>
            <a:r>
              <a:rPr lang="he-IL" dirty="0"/>
              <a:t>מילים.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000" b="1" dirty="0">
                <a:solidFill>
                  <a:srgbClr val="1E1E1E"/>
                </a:solidFill>
              </a:rPr>
              <a:t>מילים נפוצות</a:t>
            </a:r>
            <a:endParaRPr sz="5000" b="1" dirty="0">
              <a:solidFill>
                <a:srgbClr val="1E1E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 typeface="Wingdings" panose="05000000000000000000" pitchFamily="2" charset="2"/>
              <a:buChar char="v"/>
            </a:pPr>
            <a:endParaRPr dirty="0"/>
          </a:p>
          <a:p>
            <a:pPr algn="l" rtl="0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I, my, me</a:t>
            </a:r>
          </a:p>
          <a:p>
            <a:pPr algn="l" rtl="0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was, then, went, saw</a:t>
            </a:r>
          </a:p>
          <a:p>
            <a:pPr algn="l" rtl="0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he, she, they</a:t>
            </a:r>
          </a:p>
          <a:p>
            <a:pPr algn="l" rtl="0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house, car, man, woman</a:t>
            </a:r>
          </a:p>
          <a:p>
            <a:pPr algn="l" rtl="0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dream, night, feel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000" b="1" dirty="0">
                <a:solidFill>
                  <a:srgbClr val="1E1E1E"/>
                </a:solidFill>
              </a:rPr>
              <a:t>סוגי החלומות הנפוצים ביותר</a:t>
            </a:r>
            <a:endParaRPr sz="5000" b="1" dirty="0">
              <a:solidFill>
                <a:srgbClr val="1E1E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r" rtl="1">
              <a:buFont typeface="Wingdings" panose="05000000000000000000" pitchFamily="2" charset="2"/>
              <a:buChar char="v"/>
            </a:pP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אגרסיה</a:t>
            </a:r>
            <a:r>
              <a:rPr lang="he-IL" dirty="0"/>
              <a:t> – הכי נפוץ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ידידות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חרדה</a:t>
            </a:r>
            <a:r>
              <a:rPr dirty="0"/>
              <a:t> או </a:t>
            </a:r>
            <a:r>
              <a:rPr dirty="0" err="1"/>
              <a:t>פחד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/>
              <a:t>תעופה או </a:t>
            </a:r>
            <a:r>
              <a:rPr dirty="0" err="1"/>
              <a:t>ציפה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כישלון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פציעה</a:t>
            </a:r>
            <a:r>
              <a:rPr dirty="0"/>
              <a:t> או </a:t>
            </a:r>
            <a:r>
              <a:rPr dirty="0" err="1"/>
              <a:t>איום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עירום</a:t>
            </a:r>
            <a:r>
              <a:rPr dirty="0"/>
              <a:t> או </a:t>
            </a:r>
            <a:r>
              <a:rPr dirty="0" err="1"/>
              <a:t>חשיפה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נפילה</a:t>
            </a:r>
            <a:endParaRPr dirty="0"/>
          </a:p>
          <a:p>
            <a:pPr algn="r" rtl="1">
              <a:buFont typeface="Wingdings" panose="05000000000000000000" pitchFamily="2" charset="2"/>
              <a:buChar char="v"/>
              <a:defRPr sz="3000" b="0">
                <a:solidFill>
                  <a:srgbClr val="3C3C3C"/>
                </a:solidFill>
              </a:defRPr>
            </a:pPr>
            <a:r>
              <a:rPr dirty="0" err="1"/>
              <a:t>אינטראקציה</a:t>
            </a:r>
            <a:r>
              <a:rPr dirty="0"/>
              <a:t> </a:t>
            </a:r>
            <a:r>
              <a:rPr dirty="0" err="1"/>
              <a:t>חברתית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מבט לאחור">
  <a:themeElements>
    <a:clrScheme name="מבט לאחור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מבט לאחור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בט לאחור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326</Words>
  <Application>Microsoft Office PowerPoint</Application>
  <PresentationFormat>‫הצגה על המסך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Bodoni MT</vt:lpstr>
      <vt:lpstr>Calibri</vt:lpstr>
      <vt:lpstr>Calibri Light</vt:lpstr>
      <vt:lpstr>Wingdings</vt:lpstr>
      <vt:lpstr>מבט לאחור</vt:lpstr>
      <vt:lpstr>DreamBank</vt:lpstr>
      <vt:lpstr>מה זה DreamBank</vt:lpstr>
      <vt:lpstr>מה זה DreamBank</vt:lpstr>
      <vt:lpstr>למה הקימו את DreamBank</vt:lpstr>
      <vt:lpstr>מחקרי NLP</vt:lpstr>
      <vt:lpstr>סטטיסטיקות מרכזיות</vt:lpstr>
      <vt:lpstr>סוגי האוספים</vt:lpstr>
      <vt:lpstr>מאפייני הטקסט</vt:lpstr>
      <vt:lpstr>מילים נפוצות</vt:lpstr>
      <vt:lpstr>סוגי החלומות הנפוצים ביותר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robby telman</dc:creator>
  <cp:keywords/>
  <dc:description>generated using python-pptx</dc:description>
  <cp:lastModifiedBy>robby telman</cp:lastModifiedBy>
  <cp:revision>3</cp:revision>
  <dcterms:created xsi:type="dcterms:W3CDTF">2013-01-27T09:14:16Z</dcterms:created>
  <dcterms:modified xsi:type="dcterms:W3CDTF">2025-11-27T12:50:35Z</dcterms:modified>
  <cp:category/>
</cp:coreProperties>
</file>